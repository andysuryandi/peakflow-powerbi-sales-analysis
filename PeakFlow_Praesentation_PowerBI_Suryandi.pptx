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E30xlNKUHKWfjOv/wosK444JX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Begrüßung und Thema kurz nennen. Ziel: zeigen, wie aus fehlerhaften Rohdaten verlässliche Ergebnisse entstanden sind.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Kurz erklären: Der Bericht soll drei konkrete Geschäftsfragen beantworten. Die CSV startete mit 320 Zeilen und 12 Spalten.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Die wichtigsten Bereinigungen nennen: Schreibweisen, Datums- und Preisformate, negative Mengen, fehlende Preise und Duplikate. Danach wurde ein Sternschema mit FactOrders im Zentrum erstellt.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Screenshot 2026-09-08 084357.png (Nutzerdatei)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Das Balkendiagramm zeigt einen klaren Schwerpunkt. Bikes erzielen 189.174 USD. Zusammen mit Components entstehen 92,7 Prozent des Gesamtumsatzes.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Screenshot 2026-09-07 130621.png (Nutzerdatei)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North America steigt von Q1 bis Q4 kontinuierlich und beendet das Jahr mit 55.066 USD im vierten Quartal. Europe ist in Q2 am stärksten, fällt danach aber zurück.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Screenshot 2026-09-07 131357.png (Nutzerdatei)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Abschluss: Die Top 10 liefern rund ein Drittel des Umsatzes. Wichtigster Einzelkunde ist C-0007. Empfehlung: diese Kunden 2025 gezielt betreuen und ihre Entwicklung beobachten.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Screenshot 2026-09-07 130633.png (Nutzerdatei)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PeakFlow_Begleitdokumentation_Suryandi_Suryandi.pdf (Nutzerdatei)</a:t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2800" cy="6858000"/>
          </a:xfrm>
          <a:prstGeom prst="rect">
            <a:avLst/>
          </a:prstGeom>
          <a:solidFill>
            <a:srgbClr val="5B8DEF"/>
          </a:solidFill>
          <a:ln cap="flat" cmpd="sng" w="9525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07675" y="688575"/>
            <a:ext cx="6191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5B8DEF"/>
                </a:solidFill>
              </a:rPr>
              <a:t>POWER BI ABSCHLUSSPROJEKT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81050" y="1790700"/>
            <a:ext cx="66675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20262E"/>
                </a:solidFill>
              </a:rPr>
              <a:t>PeakFlow Online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20262E"/>
                </a:solidFill>
              </a:rPr>
              <a:t>Orders 2024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00100" y="3106167"/>
            <a:ext cx="7239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07982"/>
                </a:solidFill>
              </a:rPr>
              <a:t>Inspection → Transformation → Modeling → Measures → </a:t>
            </a:r>
            <a:r>
              <a:rPr lang="en-US" sz="1500">
                <a:solidFill>
                  <a:srgbClr val="707982"/>
                </a:solidFill>
              </a:rPr>
              <a:t>Visualization</a:t>
            </a:r>
            <a:endParaRPr sz="1500">
              <a:solidFill>
                <a:srgbClr val="70798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07982"/>
              </a:solidFill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36425" y="57721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0262E"/>
                </a:solidFill>
              </a:rPr>
              <a:t>Suryandi Suryandi</a:t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36425" y="60960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707982"/>
                </a:solidFill>
              </a:rPr>
              <a:t>Kurzpräsentation · ca. 5 Minuten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723900" y="4953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0262E"/>
                </a:solidFill>
              </a:rPr>
              <a:t>Ausgangslage und Ziel</a:t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1029950" y="5715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07982"/>
                </a:solidFill>
              </a:rPr>
              <a:t>02</a:t>
            </a:r>
            <a:endParaRPr/>
          </a:p>
        </p:txBody>
      </p:sp>
      <p:cxnSp>
        <p:nvCxnSpPr>
          <p:cNvPr id="29" name="Google Shape;29;p2"/>
          <p:cNvCxnSpPr/>
          <p:nvPr/>
        </p:nvCxnSpPr>
        <p:spPr>
          <a:xfrm>
            <a:off x="723900" y="1064224"/>
            <a:ext cx="10801500" cy="9600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723900" y="1089646"/>
            <a:ext cx="952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707982"/>
                </a:solidFill>
              </a:rPr>
              <a:t>Sofias drei Fragen</a:t>
            </a:r>
            <a:r>
              <a:rPr b="0" lang="en-US" sz="1725">
                <a:solidFill>
                  <a:srgbClr val="707982"/>
                </a:solidFill>
              </a:rPr>
              <a:t> für die Planung 2025.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23900" y="2332032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5B8DEF"/>
                </a:solidFill>
              </a:rPr>
              <a:t>01</a:t>
            </a:r>
            <a:endParaRPr/>
          </a:p>
        </p:txBody>
      </p:sp>
      <p:cxnSp>
        <p:nvCxnSpPr>
          <p:cNvPr id="32" name="Google Shape;32;p2"/>
          <p:cNvCxnSpPr/>
          <p:nvPr/>
        </p:nvCxnSpPr>
        <p:spPr>
          <a:xfrm>
            <a:off x="723900" y="2686050"/>
            <a:ext cx="308610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723900" y="2773775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Welche Kategorien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treiben den Umsatz?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343400" y="2332032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5B8DEF"/>
                </a:solidFill>
              </a:rPr>
              <a:t>02</a:t>
            </a:r>
            <a:endParaRPr/>
          </a:p>
        </p:txBody>
      </p:sp>
      <p:cxnSp>
        <p:nvCxnSpPr>
          <p:cNvPr id="35" name="Google Shape;35;p2"/>
          <p:cNvCxnSpPr/>
          <p:nvPr/>
        </p:nvCxnSpPr>
        <p:spPr>
          <a:xfrm>
            <a:off x="4343400" y="2686050"/>
            <a:ext cx="308610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4343400" y="2773775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Wie entwickeln sich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die Regionen?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962900" y="2332032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5B8DEF"/>
                </a:solidFill>
              </a:rPr>
              <a:t>03</a:t>
            </a:r>
            <a:endParaRPr/>
          </a:p>
        </p:txBody>
      </p:sp>
      <p:cxnSp>
        <p:nvCxnSpPr>
          <p:cNvPr id="38" name="Google Shape;38;p2"/>
          <p:cNvCxnSpPr/>
          <p:nvPr/>
        </p:nvCxnSpPr>
        <p:spPr>
          <a:xfrm>
            <a:off x="7962900" y="2686050"/>
            <a:ext cx="308610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"/>
          <p:cNvSpPr/>
          <p:nvPr/>
        </p:nvSpPr>
        <p:spPr>
          <a:xfrm>
            <a:off x="7962900" y="2773775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Welche Kunden sind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2025 besonders wichtig?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23900" y="4777754"/>
            <a:ext cx="1714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07982"/>
                </a:solidFill>
              </a:rPr>
              <a:t>DATENBASIS</a:t>
            </a:r>
            <a:endParaRPr/>
          </a:p>
        </p:txBody>
      </p:sp>
      <p:cxnSp>
        <p:nvCxnSpPr>
          <p:cNvPr id="41" name="Google Shape;41;p2"/>
          <p:cNvCxnSpPr/>
          <p:nvPr/>
        </p:nvCxnSpPr>
        <p:spPr>
          <a:xfrm>
            <a:off x="723900" y="5070452"/>
            <a:ext cx="10801500" cy="9600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723900" y="5095875"/>
            <a:ext cx="114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0262E"/>
                </a:solidFill>
              </a:rPr>
              <a:t>320</a:t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23900" y="5524500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Zeilen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333750" y="5095875"/>
            <a:ext cx="114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0262E"/>
                </a:solidFill>
              </a:rPr>
              <a:t>12</a:t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333750" y="5524500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Spalten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096000" y="5095875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0262E"/>
                </a:solidFill>
              </a:rPr>
              <a:t>2024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96000" y="5524500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Zeitraum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58250" y="50958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20262E"/>
                </a:solidFill>
              </a:rPr>
              <a:t>Online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858250" y="5524500"/>
            <a:ext cx="1905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Vertriebskanal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723900" y="4953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0262E"/>
                </a:solidFill>
              </a:rPr>
              <a:t>Saubere Daten, klares Modell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029950" y="5715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07982"/>
                </a:solidFill>
              </a:rPr>
              <a:t>03</a:t>
            </a:r>
            <a:endParaRPr/>
          </a:p>
        </p:txBody>
      </p:sp>
      <p:cxnSp>
        <p:nvCxnSpPr>
          <p:cNvPr id="57" name="Google Shape;57;p3"/>
          <p:cNvCxnSpPr/>
          <p:nvPr/>
        </p:nvCxnSpPr>
        <p:spPr>
          <a:xfrm>
            <a:off x="723900" y="1031683"/>
            <a:ext cx="10801500" cy="9600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723900" y="1065241"/>
            <a:ext cx="8096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707982"/>
                </a:solidFill>
              </a:rPr>
              <a:t>Aus 320 Rohzeilen werden 305 verlässliche Bestellungen.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23900" y="1900458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B8DEF"/>
                </a:solidFill>
              </a:rPr>
              <a:t>8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23900" y="2395758"/>
            <a:ext cx="18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Duplikate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819400" y="1900458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B8DEF"/>
                </a:solidFill>
              </a:rPr>
              <a:t>4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2819400" y="2395758"/>
            <a:ext cx="18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negative Mengen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914900" y="1900458"/>
            <a:ext cx="95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B8DEF"/>
                </a:solidFill>
              </a:rPr>
              <a:t>3</a:t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914900" y="2395758"/>
            <a:ext cx="1809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fehlende Preise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477125" y="1900458"/>
            <a:ext cx="10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707982"/>
                </a:solidFill>
              </a:rPr>
              <a:t>320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572500" y="1919508"/>
            <a:ext cx="476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E4E8EC"/>
                </a:solidFill>
              </a:rPr>
              <a:t>−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096375" y="1900458"/>
            <a:ext cx="90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B8DEF"/>
                </a:solidFill>
              </a:rPr>
              <a:t>15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0001250" y="1919508"/>
            <a:ext cx="4764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50">
                <a:solidFill>
                  <a:srgbClr val="E4E8EC"/>
                </a:solidFill>
              </a:rPr>
              <a:t>=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0477500" y="1900458"/>
            <a:ext cx="10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5B8DEF"/>
                </a:solidFill>
              </a:rPr>
              <a:t>305</a:t>
            </a:r>
            <a:endParaRPr/>
          </a:p>
        </p:txBody>
      </p:sp>
      <p:cxnSp>
        <p:nvCxnSpPr>
          <p:cNvPr id="70" name="Google Shape;70;p3"/>
          <p:cNvCxnSpPr/>
          <p:nvPr/>
        </p:nvCxnSpPr>
        <p:spPr>
          <a:xfrm>
            <a:off x="723900" y="3429000"/>
            <a:ext cx="108013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"/>
          <p:cNvSpPr/>
          <p:nvPr/>
        </p:nvSpPr>
        <p:spPr>
          <a:xfrm>
            <a:off x="723900" y="5035641"/>
            <a:ext cx="1905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707982"/>
                </a:solidFill>
              </a:rPr>
              <a:t>STERNSCHEMA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723900" y="5233123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0262E"/>
                </a:solidFill>
              </a:rPr>
              <a:t>FactOrders steht im Zentrum.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23900" y="5614327"/>
            <a:ext cx="4095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707982"/>
                </a:solidFill>
              </a:rPr>
              <a:t>DimCustomer, DimProduct und DimDate sind über 1:* Beziehungen mit der Faktentabelle verbunden.</a:t>
            </a:r>
            <a:endParaRPr/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4350" y="3695700"/>
            <a:ext cx="6410901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723900" y="4953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0262E"/>
                </a:solidFill>
              </a:rPr>
              <a:t>Bikes sind der wichtigste Umsatztreiber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1029950" y="5715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07982"/>
                </a:solidFill>
              </a:rPr>
              <a:t>04</a:t>
            </a:r>
            <a:endParaRPr/>
          </a:p>
        </p:txBody>
      </p:sp>
      <p:cxnSp>
        <p:nvCxnSpPr>
          <p:cNvPr id="82" name="Google Shape;82;p4"/>
          <p:cNvCxnSpPr/>
          <p:nvPr/>
        </p:nvCxnSpPr>
        <p:spPr>
          <a:xfrm>
            <a:off x="723900" y="1104900"/>
            <a:ext cx="108013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710" y="1381125"/>
            <a:ext cx="628148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8572500" y="1733550"/>
            <a:ext cx="271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189.174 USD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591550" y="2102652"/>
            <a:ext cx="2619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Umsatz mit Bikes</a:t>
            </a:r>
            <a:endParaRPr/>
          </a:p>
        </p:txBody>
      </p:sp>
      <p:cxnSp>
        <p:nvCxnSpPr>
          <p:cNvPr id="86" name="Google Shape;86;p4"/>
          <p:cNvCxnSpPr/>
          <p:nvPr/>
        </p:nvCxnSpPr>
        <p:spPr>
          <a:xfrm>
            <a:off x="8572500" y="2743200"/>
            <a:ext cx="25717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4"/>
          <p:cNvSpPr/>
          <p:nvPr/>
        </p:nvSpPr>
        <p:spPr>
          <a:xfrm>
            <a:off x="8572500" y="3076575"/>
            <a:ext cx="271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58,9 %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8591550" y="3470083"/>
            <a:ext cx="2619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Anteil am Gesamtumsatz</a:t>
            </a:r>
            <a:endParaRPr/>
          </a:p>
        </p:txBody>
      </p:sp>
      <p:cxnSp>
        <p:nvCxnSpPr>
          <p:cNvPr id="89" name="Google Shape;89;p4"/>
          <p:cNvCxnSpPr/>
          <p:nvPr/>
        </p:nvCxnSpPr>
        <p:spPr>
          <a:xfrm>
            <a:off x="8572500" y="4114800"/>
            <a:ext cx="25717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8572500" y="4438650"/>
            <a:ext cx="271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92,7 %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591550" y="4825412"/>
            <a:ext cx="2900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07982"/>
                </a:solidFill>
              </a:rPr>
              <a:t>Bikes und Components zusammen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723900" y="4953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0262E"/>
                </a:solidFill>
              </a:rPr>
              <a:t>North America wächst in jedem Quartal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11029950" y="5715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07982"/>
                </a:solidFill>
              </a:rPr>
              <a:t>05</a:t>
            </a:r>
            <a:endParaRPr/>
          </a:p>
        </p:txBody>
      </p:sp>
      <p:cxnSp>
        <p:nvCxnSpPr>
          <p:cNvPr id="99" name="Google Shape;99;p5"/>
          <p:cNvCxnSpPr/>
          <p:nvPr/>
        </p:nvCxnSpPr>
        <p:spPr>
          <a:xfrm>
            <a:off x="723900" y="1104900"/>
            <a:ext cx="108013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0" name="Google Shape;1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087" y="1381125"/>
            <a:ext cx="6160726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8572500" y="1733550"/>
            <a:ext cx="271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164.254 USD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8591550" y="2118923"/>
            <a:ext cx="2619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North America gesamt</a:t>
            </a:r>
            <a:endParaRPr/>
          </a:p>
        </p:txBody>
      </p:sp>
      <p:cxnSp>
        <p:nvCxnSpPr>
          <p:cNvPr id="103" name="Google Shape;103;p5"/>
          <p:cNvCxnSpPr/>
          <p:nvPr/>
        </p:nvCxnSpPr>
        <p:spPr>
          <a:xfrm>
            <a:off x="8572500" y="2743200"/>
            <a:ext cx="25717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5"/>
          <p:cNvSpPr/>
          <p:nvPr/>
        </p:nvSpPr>
        <p:spPr>
          <a:xfrm>
            <a:off x="8572500" y="3076575"/>
            <a:ext cx="2714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156.896 USD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8591550" y="3478218"/>
            <a:ext cx="2619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Europe gesamt</a:t>
            </a:r>
            <a:endParaRPr/>
          </a:p>
        </p:txBody>
      </p:sp>
      <p:cxnSp>
        <p:nvCxnSpPr>
          <p:cNvPr id="106" name="Google Shape;106;p5"/>
          <p:cNvCxnSpPr/>
          <p:nvPr/>
        </p:nvCxnSpPr>
        <p:spPr>
          <a:xfrm>
            <a:off x="8572500" y="4114800"/>
            <a:ext cx="25717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5"/>
          <p:cNvSpPr/>
          <p:nvPr/>
        </p:nvSpPr>
        <p:spPr>
          <a:xfrm>
            <a:off x="8572500" y="4438650"/>
            <a:ext cx="27146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55.066 USD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8591550" y="4849818"/>
            <a:ext cx="2619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07982"/>
                </a:solidFill>
              </a:rPr>
              <a:t>North America im stärksten Quartal Q4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1282075" y="6135275"/>
            <a:ext cx="8501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North America entwickelte sich von Q1 bis Q4 kontinuierlich positiv.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723900" y="495300"/>
            <a:ext cx="10001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0262E"/>
                </a:solidFill>
              </a:rPr>
              <a:t>Top-Kunden gezielt binden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1029950" y="571500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07982"/>
                </a:solidFill>
              </a:rPr>
              <a:t>06</a:t>
            </a:r>
            <a:endParaRPr/>
          </a:p>
        </p:txBody>
      </p:sp>
      <p:cxnSp>
        <p:nvCxnSpPr>
          <p:cNvPr id="117" name="Google Shape;117;p6"/>
          <p:cNvCxnSpPr/>
          <p:nvPr/>
        </p:nvCxnSpPr>
        <p:spPr>
          <a:xfrm>
            <a:off x="723900" y="1104900"/>
            <a:ext cx="10801350" cy="9525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945" y="1381125"/>
            <a:ext cx="614701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8572500" y="16668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5B8DEF"/>
                </a:solidFill>
              </a:rPr>
              <a:t>C-0007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8572500" y="1966523"/>
            <a:ext cx="2667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62E"/>
                </a:solidFill>
              </a:rPr>
              <a:t>Liam OConnor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572500" y="228661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15.567 USD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591550" y="2728929"/>
            <a:ext cx="261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Umsatz des stärksten Einzelkunden</a:t>
            </a:r>
            <a:endParaRPr/>
          </a:p>
        </p:txBody>
      </p:sp>
      <p:cxnSp>
        <p:nvCxnSpPr>
          <p:cNvPr id="123" name="Google Shape;123;p6"/>
          <p:cNvCxnSpPr/>
          <p:nvPr/>
        </p:nvCxnSpPr>
        <p:spPr>
          <a:xfrm>
            <a:off x="8572500" y="3671091"/>
            <a:ext cx="2571900" cy="9600"/>
          </a:xfrm>
          <a:prstGeom prst="straightConnector1">
            <a:avLst/>
          </a:prstGeom>
          <a:noFill/>
          <a:ln cap="flat" cmpd="sng" w="9525">
            <a:solidFill>
              <a:srgbClr val="E4E8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6"/>
          <p:cNvSpPr/>
          <p:nvPr/>
        </p:nvSpPr>
        <p:spPr>
          <a:xfrm>
            <a:off x="8572500" y="396240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5B8DEF"/>
                </a:solidFill>
              </a:rPr>
              <a:t>33,06 %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591550" y="4429125"/>
            <a:ext cx="2619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707982"/>
                </a:solidFill>
              </a:rPr>
              <a:t>Umsatzanteil der Top 10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8572500" y="5208582"/>
            <a:ext cx="2667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5B8DEF"/>
                </a:solidFill>
              </a:rPr>
              <a:t>Empfehlung</a:t>
            </a:r>
            <a:endParaRPr>
              <a:solidFill>
                <a:srgbClr val="5B8DEF"/>
              </a:solidFill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572500" y="5476875"/>
            <a:ext cx="3237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Diese Top 10 Kunden sollten wir 2025 besonders im Augen behalten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